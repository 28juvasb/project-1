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this is a computational proposal that extends the lab's own published 2026 pipeline into a new, unexplored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 I'm targeting is her own stated gap: no specific biomarkers.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honest about what's been done is a strength — it shows the novelty claim survived an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selling point: the design is outcome-robust. Both answers are publishable.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deliberately her pipeline, not a new one — that's what de-risks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Flag the honesty here: I re-checked these against GEO. GSE38642 shares most donors with GSE41762 (Uppsala islet bank), so it is only a sensitivity check; GSE20966 is the external islet validation. Adipose cohorts are tiny, so I report AUC with confidence intervals instead of fixed targets.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heart of the pitch — the comparison step is the contribution.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the Drosophila extension shows I read the whole research program without overcommitting.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2450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480560"/>
            <a:ext cx="2377440" cy="2377440"/>
          </a:xfrm>
          <a:prstGeom prst="ellipse">
            <a:avLst/>
          </a:prstGeom>
          <a:solidFill>
            <a:srgbClr val="2450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234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PROPOSAL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Cross-Tissue Senescence Hub-Gene Signature in Type 2 Diabetes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32461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Multi-algorithm machine learning convergence and structural docking across pancreatic islets and adipose tissue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343400"/>
            <a:ext cx="1005840" cy="32004"/>
          </a:xfrm>
          <a:prstGeom prst="rect">
            <a:avLst/>
          </a:prstGeom>
          <a:solidFill>
            <a:srgbClr val="C9A2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66344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 </a:t>
            </a:r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Kavitha Thirumurugan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Biosciences &amp; Technology, VIT Vellore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56235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Juvas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Biotechnology, VIT Vellore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Senescence drives T2DM in more than one tissue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organs, two mechanisms, one clinical outcome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1691640"/>
          </a:xfrm>
          <a:prstGeom prst="roundRect">
            <a:avLst>
              <a:gd name="adj" fmla="val 3243"/>
            </a:avLst>
          </a:prstGeom>
          <a:solidFill>
            <a:srgbClr val="F7F5EF"/>
          </a:solidFill>
          <a:ln w="9525">
            <a:solidFill>
              <a:srgbClr val="E2E0D6"/>
            </a:solidFill>
            <a:prstDash val="solid"/>
          </a:ln>
          <a:effectLst>
            <a:outerShdw sx="100000" sy="100000" kx="0" ky="0" algn="bl" rotWithShape="0" blurRad="101600" dist="19050" dir="5400000">
              <a:srgbClr val="AAAAA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745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Pancreatic β-cells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Senescent cells accumulate and drive progressive insulin secretory failure. p16 and p21 are elevated in T2DM patients versus lean controls.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257800" cy="1691640"/>
          </a:xfrm>
          <a:prstGeom prst="roundRect">
            <a:avLst>
              <a:gd name="adj" fmla="val 3243"/>
            </a:avLst>
          </a:prstGeom>
          <a:solidFill>
            <a:srgbClr val="F7F5EF"/>
          </a:solidFill>
          <a:ln w="9525">
            <a:solidFill>
              <a:srgbClr val="E2E0D6"/>
            </a:solidFill>
            <a:prstDash val="solid"/>
          </a:ln>
          <a:effectLst>
            <a:outerShdw sx="100000" sy="100000" kx="0" ky="0" algn="bl" rotWithShape="0" blurRad="101600" dist="19050" dir="5400000">
              <a:srgbClr val="AAAAAA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8745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Adipose tissue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Senescent adipocyte progenitors accumulate with age, driving insulin resistance and chronic low-grade inflammation.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10881360" cy="2286000"/>
          </a:xfrm>
          <a:prstGeom prst="roundRect">
            <a:avLst>
              <a:gd name="adj" fmla="val 2400"/>
            </a:avLst>
          </a:prstGeom>
          <a:solidFill>
            <a:srgbClr val="1633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02336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bottleneck is not mechanism — it is biomarkers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05840" y="4480560"/>
            <a:ext cx="1014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Senescence pathways are well mapped (p53/p21, p16</a:t>
            </a:r>
            <a:pPr indent="0" marL="0">
              <a:lnSpc>
                <a:spcPts val="2200"/>
              </a:lnSpc>
              <a:buNone/>
            </a:pPr>
            <a:r>
              <a:rPr lang="en-US" sz="1000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INK4a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/Rb, SASP). What the field lacks — as Dr. Thirumurugan's own 2023 review states — is 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biomarkers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integration between mechanism and therapeutic candidates. Senotherapeutics cannot reach the clinic without them.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already exists — and what does not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claims verified against the published literature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206240"/>
          </a:xfrm>
          <a:prstGeom prst="roundRect">
            <a:avLst>
              <a:gd name="adj" fmla="val 1304"/>
            </a:avLst>
          </a:prstGeom>
          <a:solidFill>
            <a:srgbClr val="F2F0E8"/>
          </a:solidFill>
          <a:ln w="9525">
            <a:solidFill>
              <a:srgbClr val="E2E0D6"/>
            </a:solidFill>
            <a:prstDash val="solid"/>
          </a:ln>
          <a:effectLst>
            <a:outerShdw sx="100000" sy="100000" kx="0" ky="0" algn="bl" rotWithShape="0" blurRad="101600" dist="19050" dir="5400000">
              <a:srgbClr val="AAAAA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202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PUBLISHED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709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Hub-gene discovery across these exact islet datasets (GSE20966, GSE25724, GSE38642, GSE41762) — multiple studies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Islet hub-gene panels for autophagy, ferroptosis, and pyroptosis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SenMayo senescence scoring in β-cells at single-cell resolution (“β-SenMayo”, JCI Insight 2025)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Naringenin network pharmacology + docking — but for Parkinson's, not senescence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257800" cy="4206240"/>
          </a:xfrm>
          <a:prstGeom prst="roundRect">
            <a:avLst>
              <a:gd name="adj" fmla="val 1304"/>
            </a:avLst>
          </a:prstGeom>
          <a:solidFill>
            <a:srgbClr val="16332A"/>
          </a:solidFill>
          <a:ln w="9525">
            <a:solidFill>
              <a:srgbClr val="E2E0D6"/>
            </a:solidFill>
            <a:prstDash val="solid"/>
          </a:ln>
          <a:effectLst>
            <a:outerShdw sx="100000" sy="100000" kx="0" ky="0" algn="bl" rotWithShape="0" blurRad="101600" dist="19050" dir="5400000">
              <a:srgbClr val="AAAAAA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9202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UNADDRESSED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37960" y="2286000"/>
            <a:ext cx="4709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study combines senescence-set filtering with three-algorithm ML convergence (LASSO + SVM-RFE + Random Forest)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study links an ML-derived senescence hub gene to a structurally docked phytocompound target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study compares senescence hub-gene signatures across islet and adipose tissue within T2DM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3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43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QUESTION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there a shared senescence hub-gene signature across islet and adipose tissue in T2DM — or is senescence-driven dysfunction tissue-specific?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4160520"/>
            <a:ext cx="5074920" cy="1600200"/>
          </a:xfrm>
          <a:prstGeom prst="roundRect">
            <a:avLst>
              <a:gd name="adj" fmla="val 3429"/>
            </a:avLst>
          </a:prstGeom>
          <a:solidFill>
            <a:srgbClr val="24503F"/>
          </a:solidFill>
          <a:ln w="9525">
            <a:solidFill>
              <a:srgbClr val="8FA9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4389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shared hub gene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15568" y="475488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higher-value therapeutic target — one protein relevant across two disease-driving tissues.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4160520"/>
            <a:ext cx="5074920" cy="1600200"/>
          </a:xfrm>
          <a:prstGeom prst="roundRect">
            <a:avLst>
              <a:gd name="adj" fmla="val 3429"/>
            </a:avLst>
          </a:prstGeom>
          <a:solidFill>
            <a:srgbClr val="24503F"/>
          </a:solidFill>
          <a:ln w="9525">
            <a:solidFill>
              <a:srgbClr val="8FA9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6248" y="4389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tissue-specific split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56248" y="475488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meaningful, citable finding in its own right — senescence programs diverge by organ.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result answers the question. The study cannot produce a null outcome.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five-stage computational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framework validated in the lab's 2026 COL6A3 paper, applied to a new disease axis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46504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46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645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Acquire &amp; normalize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97680" y="1673352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retrieval, probe re-annotation to unified IDs, RMA normalization, ComBat batch correction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05256" y="2221992"/>
            <a:ext cx="20117" cy="329184"/>
          </a:xfrm>
          <a:prstGeom prst="rect">
            <a:avLst/>
          </a:prstGeom>
          <a:solidFill>
            <a:srgbClr val="8FA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715768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6151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for senescence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97680" y="2642616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 differentially expressed genes with SenMayo (125 genes), CellAge, and GenAge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5256" y="3191256"/>
            <a:ext cx="20117" cy="329184"/>
          </a:xfrm>
          <a:prstGeom prst="rect">
            <a:avLst/>
          </a:prstGeom>
          <a:solidFill>
            <a:srgbClr val="8FA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685032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35844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+ ML convergence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97680" y="361188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WGCNA modules, then LASSO + SVM-RFE + Random Forest in parallel; take the 3-way intersection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05256" y="4160520"/>
            <a:ext cx="20117" cy="329184"/>
          </a:xfrm>
          <a:prstGeom prst="rect">
            <a:avLst/>
          </a:prstGeom>
          <a:solidFill>
            <a:srgbClr val="8FA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4654296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654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45537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Specificity &amp; structure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297680" y="4581144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β-cell origin via single-cell data; predict 3D structure with AlphaFold2 or retrieve from PDB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05256" y="5129784"/>
            <a:ext cx="20117" cy="329184"/>
          </a:xfrm>
          <a:prstGeom prst="rect">
            <a:avLst/>
          </a:prstGeom>
          <a:solidFill>
            <a:srgbClr val="8FA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5623560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623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25880" y="5522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 &amp; interpret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297680" y="5550408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AutoDock Vina / HADDOCK against phytocompound panel; map onto senescence signalling nodes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arms, one identical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input datasets differ — which is what makes the comparison valid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3977640"/>
          </a:xfrm>
          <a:prstGeom prst="roundRect">
            <a:avLst>
              <a:gd name="adj" fmla="val 1379"/>
            </a:avLst>
          </a:prstGeom>
          <a:solidFill>
            <a:srgbClr val="16332A"/>
          </a:solidFill>
          <a:ln w="9525">
            <a:solidFill>
              <a:srgbClr val="E2E0D6"/>
            </a:solidFill>
            <a:prstDash val="solid"/>
          </a:ln>
          <a:effectLst>
            <a:outerShdw sx="100000" sy="100000" kx="0" ky="0" algn="bl" rotWithShape="0" blurRad="101600" dist="19050" dir="5400000">
              <a:srgbClr val="AAAAA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87452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ISLET ARM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37744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GSE41762 — 57 ND / 20 T2D (n=77)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9535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377440" y="2953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GSE20966 — sorted β-cells (n=20)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3575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77440" y="35753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GSE38642 — non-overlapping donors only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41970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Single-cell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377440" y="41970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GSE81608 — confirms β-cell origin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48188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377440" y="4818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± 95% CI, nested CV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1645920"/>
            <a:ext cx="5257800" cy="3977640"/>
          </a:xfrm>
          <a:prstGeom prst="roundRect">
            <a:avLst>
              <a:gd name="adj" fmla="val 1379"/>
            </a:avLst>
          </a:prstGeom>
          <a:solidFill>
            <a:srgbClr val="F2F0E8"/>
          </a:solidFill>
          <a:ln w="9525">
            <a:solidFill>
              <a:srgbClr val="E2E0D6"/>
            </a:solidFill>
            <a:prstDash val="solid"/>
          </a:ln>
          <a:effectLst>
            <a:outerShdw sx="100000" sy="100000" kx="0" ky="0" algn="bl" rotWithShape="0" blurRad="101600" dist="19050" dir="5400000">
              <a:srgbClr val="AAAAA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187452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4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ADIPOSE ARM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2331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00100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GSE27951 — 11 ND / 10 T2D (n=21)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29535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01000" y="2953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GSE71416 — omental, n=20 (14 T2D / 6 ND)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3575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01000" y="35753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GSE16415 — visceral (n=10)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41970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Single-cell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001000" y="41970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scope — bulk tissue only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48188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001000" y="4818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± 95% CI (descriptive)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5852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re-checked against GEO: GSE38642 shares donors with GSE41762, so it is not used as independent validation — performance is reported with confidence intervals, not fixed AUC targets.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comparison is where the novelty sits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arms are human-native — no cross-species ortholog mapping required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3200400" cy="914400"/>
          </a:xfrm>
          <a:prstGeom prst="roundRect">
            <a:avLst>
              <a:gd name="adj" fmla="val 6000"/>
            </a:avLst>
          </a:prstGeom>
          <a:solidFill>
            <a:srgbClr val="1633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Islet hub-gene panel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063240"/>
            <a:ext cx="3200400" cy="914400"/>
          </a:xfrm>
          <a:prstGeom prst="roundRect">
            <a:avLst>
              <a:gd name="adj" fmla="val 6000"/>
            </a:avLst>
          </a:prstGeom>
          <a:solidFill>
            <a:srgbClr val="8FA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0632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Adipose hub-gene panel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51960" y="2331720"/>
            <a:ext cx="777240" cy="1097280"/>
          </a:xfrm>
          <a:prstGeom prst="chevron">
            <a:avLst/>
          </a:prstGeom>
          <a:solidFill>
            <a:srgbClr val="C9A2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49240" y="1691640"/>
            <a:ext cx="6172200" cy="3794760"/>
          </a:xfrm>
          <a:prstGeom prst="roundRect">
            <a:avLst>
              <a:gd name="adj" fmla="val 1446"/>
            </a:avLst>
          </a:prstGeom>
          <a:solidFill>
            <a:srgbClr val="F7F5EF"/>
          </a:solidFill>
          <a:ln w="9525">
            <a:solidFill>
              <a:srgbClr val="E2E0D6"/>
            </a:solidFill>
            <a:prstDash val="solid"/>
          </a:ln>
          <a:effectLst>
            <a:outerShdw sx="100000" sy="100000" kx="0" ky="0" algn="bl" rotWithShape="0" blurRad="101600" dist="19050" dir="5400000">
              <a:srgbClr val="AAAAA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23560" y="2057400"/>
            <a:ext cx="384048" cy="38404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2356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72200" y="1965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intersection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172200" y="224942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two panels gene-for-gene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23560" y="2907792"/>
            <a:ext cx="384048" cy="38404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72200" y="28163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vs. specific split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72200" y="309981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hub gene by tissue presence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23560" y="3758184"/>
            <a:ext cx="384048" cy="38404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72200" y="36667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re-annotation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72200" y="395020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KEGG enrichment on each subset separately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23560" y="4608576"/>
            <a:ext cx="384048" cy="38404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23560" y="4608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72200" y="45171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prioritisation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172200" y="48006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gene wins; otherwise dock the best from each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43434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published study has run this comparison.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comparative phytocompound panel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compound is one the lab has already worked with — docking gives a ranked shortlist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1874520"/>
          </a:xfrm>
          <a:prstGeom prst="roundRect">
            <a:avLst>
              <a:gd name="adj" fmla="val 2927"/>
            </a:avLst>
          </a:prstGeom>
          <a:solidFill>
            <a:srgbClr val="16332A"/>
          </a:solidFill>
          <a:ln w="9525">
            <a:solidFill>
              <a:srgbClr val="E2E0D6"/>
            </a:solidFill>
            <a:prstDash val="solid"/>
          </a:ln>
          <a:effectLst>
            <a:outerShdw sx="100000" sy="100000" kx="0" ky="0" algn="bl" rotWithShape="0" blurRad="101600" dist="19050" dir="5400000">
              <a:srgbClr val="AAAAA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89280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32688" y="21671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Naringenin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26060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Lab's flagship compound. Modulates autophagy, insulin sensitivity, and α-glucosidase activity in diabetic models.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257800" cy="1874520"/>
          </a:xfrm>
          <a:prstGeom prst="roundRect">
            <a:avLst>
              <a:gd name="adj" fmla="val 2927"/>
            </a:avLst>
          </a:prstGeom>
          <a:solidFill>
            <a:srgbClr val="F7F5EF"/>
          </a:solidFill>
          <a:ln w="9525">
            <a:solidFill>
              <a:srgbClr val="E2E0D6"/>
            </a:solidFill>
            <a:prstDash val="solid"/>
          </a:ln>
          <a:effectLst>
            <a:outerShdw sx="100000" sy="100000" kx="0" ky="0" algn="bl" rotWithShape="0" blurRad="101600" dist="19050" dir="5400000">
              <a:srgbClr val="AAAAA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6248" y="189280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56248" y="21671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Embelin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56248" y="26060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hub-gene modulator in the lab's own 2026 Frontiers in Oncology COL6A3 study.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5257800" cy="1874520"/>
          </a:xfrm>
          <a:prstGeom prst="roundRect">
            <a:avLst>
              <a:gd name="adj" fmla="val 2927"/>
            </a:avLst>
          </a:prstGeom>
          <a:solidFill>
            <a:srgbClr val="F7F5EF"/>
          </a:solidFill>
          <a:ln w="9525">
            <a:solidFill>
              <a:srgbClr val="E2E0D6"/>
            </a:solidFill>
            <a:prstDash val="solid"/>
          </a:ln>
          <a:effectLst>
            <a:outerShdw sx="100000" sy="100000" kx="0" ky="0" algn="bl" rotWithShape="0" blurRad="101600" dist="19050" dir="5400000">
              <a:srgbClr val="AAAAAA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32688" y="404164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32688" y="431596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Lipoic acid–sesamol conjugate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32688" y="47548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Synthesised and validated in the lab's Drosophila anti-aging work.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840480"/>
            <a:ext cx="5257800" cy="1874520"/>
          </a:xfrm>
          <a:prstGeom prst="roundRect">
            <a:avLst>
              <a:gd name="adj" fmla="val 2927"/>
            </a:avLst>
          </a:prstGeom>
          <a:solidFill>
            <a:srgbClr val="F7F5EF"/>
          </a:solidFill>
          <a:ln w="9525">
            <a:solidFill>
              <a:srgbClr val="E2E0D6"/>
            </a:solidFill>
            <a:prstDash val="solid"/>
          </a:ln>
          <a:effectLst>
            <a:outerShdw sx="100000" sy="100000" kx="0" ky="0" algn="bl" rotWithShape="0" blurRad="101600" dist="19050" dir="5400000">
              <a:srgbClr val="AAAAA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56248" y="404164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56248" y="431596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Rutin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56248" y="47548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in the lab for hormetic efficacy and lifespan extension in Drosophila.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943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on binding energy (ΔG), contact residues, and predicted selectivity — so the output is a ranked candidate, not a single yes/no.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Sixteen weeks, five phases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parallel arms add two weeks over a single-tissue study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645920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1633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64592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20240" y="162763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scoping &amp; preprocessing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349240" y="1691640"/>
            <a:ext cx="6172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Normalised, senescence-filtered matrices for both tissue arms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2587752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8FA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58775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4–8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0240" y="256946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WGCNA + ML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349240" y="2633472"/>
            <a:ext cx="6172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hub-gene panels, each validated (nested CV + external cohort)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3529584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1633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529584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9–11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351129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Cross-tissue comparison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349240" y="3575304"/>
            <a:ext cx="6172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vs. tissue-specific classification; β-cell specificity confirmed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4471416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8FA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471416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12–14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20240" y="44531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docking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349240" y="4517136"/>
            <a:ext cx="6172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Binding-energy profiles for four compounds against the prioritised target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" y="5413248"/>
            <a:ext cx="1051560" cy="566928"/>
          </a:xfrm>
          <a:prstGeom prst="roundRect">
            <a:avLst>
              <a:gd name="adj" fmla="val 9677"/>
            </a:avLst>
          </a:prstGeom>
          <a:solidFill>
            <a:srgbClr val="1633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541324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15–16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920240" y="53949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&amp; writing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349240" y="5458968"/>
            <a:ext cx="6172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Manuscript draft with Drosophila extension noted as future work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8368" y="6400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if time tightens, the adipose arm scopes down to discovery + validation only — the core comparison survives.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fits the lab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pillars engaged directly, the third named as the next phase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Senescence signalling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389120" y="1728216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the senotherapeutics and senescence-pathway focus of the lab's 2023 review.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834640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7432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Adipogenesis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389120" y="2779776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adipose system the lab already studies through Hox gene and RNF213 work.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886200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37947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biology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389120" y="3831336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Docking complements the PI's own single-particle EM and molecular-motor background.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10881360" cy="1463040"/>
          </a:xfrm>
          <a:prstGeom prst="roundRect">
            <a:avLst>
              <a:gd name="adj" fmla="val 3750"/>
            </a:avLst>
          </a:prstGeom>
          <a:solidFill>
            <a:srgbClr val="1633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13892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 — THE THIRD PILLAR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5468112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human hub genes could then be tested for conservation in Drosophila longevity models (GSE67547, CoFly; FlyBase/DIOPT ortholog mapping) — letting the lab's existing fly infrastructure validate a human-derived computational finding. Deliberately out of scope here, to keep this study achievable.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3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4023360" cy="4023360"/>
          </a:xfrm>
          <a:prstGeom prst="ellipse">
            <a:avLst/>
          </a:prstGeom>
          <a:solidFill>
            <a:srgbClr val="2450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AM ASKING FOR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fully computational study — no wet-lab resources required to produce the primary result.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3520440"/>
            <a:ext cx="3291840" cy="1463040"/>
          </a:xfrm>
          <a:prstGeom prst="roundRect">
            <a:avLst>
              <a:gd name="adj" fmla="val 3750"/>
            </a:avLst>
          </a:prstGeom>
          <a:solidFill>
            <a:srgbClr val="24503F"/>
          </a:solidFill>
          <a:ln w="9525">
            <a:solidFill>
              <a:srgbClr val="8FA9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4114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on senescence interpretation and target plausibility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3520440"/>
            <a:ext cx="3291840" cy="1463040"/>
          </a:xfrm>
          <a:prstGeom prst="roundRect">
            <a:avLst>
              <a:gd name="adj" fmla="val 3750"/>
            </a:avLst>
          </a:prstGeom>
          <a:solidFill>
            <a:srgbClr val="24503F"/>
          </a:solidFill>
          <a:ln w="9525">
            <a:solidFill>
              <a:srgbClr val="8FA9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access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09160" y="4114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 / Bioconductor and docking toolchain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3520440"/>
            <a:ext cx="3291840" cy="1463040"/>
          </a:xfrm>
          <a:prstGeom prst="roundRect">
            <a:avLst>
              <a:gd name="adj" fmla="val 3750"/>
            </a:avLst>
          </a:prstGeom>
          <a:solidFill>
            <a:srgbClr val="24503F"/>
          </a:solidFill>
          <a:ln w="9525">
            <a:solidFill>
              <a:srgbClr val="8FA9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Optional next step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21040" y="4114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in the lab's existing β-cell, adipocyte, or fly models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outcome — shared signature or tissue-specific divergence — is a publishable result.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6080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Juvas  ·  B.Tech Biotechnology, VIT Vellore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Cross-Tissue Senescence Signature in T2DM</dc:title>
  <dc:subject>PptxGenJS Presentation</dc:subject>
  <dc:creator>Juvas</dc:creator>
  <cp:lastModifiedBy>Juvas</cp:lastModifiedBy>
  <cp:revision>1</cp:revision>
  <dcterms:created xsi:type="dcterms:W3CDTF">2026-08-17T21:00:49Z</dcterms:created>
  <dcterms:modified xsi:type="dcterms:W3CDTF">2026-08-17T21:00:49Z</dcterms:modified>
</cp:coreProperties>
</file>